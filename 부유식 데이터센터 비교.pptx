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oto Sans Kr Bold" charset="1" panose="020B0200000000000000"/>
      <p:regular r:id="rId18"/>
    </p:embeddedFont>
    <p:embeddedFont>
      <p:font typeface="Noto Sans Kr" charset="1" panose="020B02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0750" y="0"/>
            <a:ext cx="8477250" cy="10287000"/>
          </a:xfrm>
          <a:custGeom>
            <a:avLst/>
            <a:gdLst/>
            <a:ahLst/>
            <a:cxnLst/>
            <a:rect r="r" b="b" t="t" l="l"/>
            <a:pathLst>
              <a:path h="10287000" w="8477250">
                <a:moveTo>
                  <a:pt x="0" y="0"/>
                </a:moveTo>
                <a:lnTo>
                  <a:pt x="8477250" y="0"/>
                </a:lnTo>
                <a:lnTo>
                  <a:pt x="8477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" r="0" b="-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9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A2D">
                    <a:alpha val="100000"/>
                  </a:srgbClr>
                </a:gs>
                <a:gs pos="100000">
                  <a:srgbClr val="071A2D">
                    <a:alpha val="12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192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66800" y="2152650"/>
            <a:ext cx="876300" cy="66675"/>
            <a:chOff x="0" y="0"/>
            <a:chExt cx="1168400" cy="8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8400" cy="88900"/>
            </a:xfrm>
            <a:custGeom>
              <a:avLst/>
              <a:gdLst/>
              <a:ahLst/>
              <a:cxnLst/>
              <a:rect r="r" b="b" t="t" l="l"/>
              <a:pathLst>
                <a:path h="889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32B67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684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66800" y="847725"/>
            <a:ext cx="7239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7ED6E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HD 현대중공업 Future builders Academy |  2026.09.30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800" y="2514600"/>
            <a:ext cx="9334500" cy="163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585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부유식 데이터센터</a:t>
            </a:r>
          </a:p>
          <a:p>
            <a:pPr algn="l">
              <a:lnSpc>
                <a:spcPts val="6318"/>
              </a:lnSpc>
            </a:pPr>
            <a:r>
              <a:rPr lang="en-US" sz="585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조선사 경쟁력 비교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4810125"/>
            <a:ext cx="8191500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HD한국조선해양 · 한화오션 · 삼성중공업 · 중국 주요 조선사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6800" y="6429375"/>
            <a:ext cx="66675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32B67A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준비도·상용화 근접도 중심 분석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6800" y="7038975"/>
            <a:ext cx="7429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B6C7D4"/>
                </a:solidFill>
                <a:latin typeface="Noto Sans Kr"/>
                <a:ea typeface="Noto Sans Kr"/>
                <a:cs typeface="Noto Sans Kr"/>
                <a:sym typeface="Noto Sans Kr"/>
              </a:rPr>
              <a:t>공개 웹자료 기준  |  AiP·MOU·LOI·Engineering Contract 구분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6800" y="8829675"/>
            <a:ext cx="6667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B6C7D4"/>
                </a:solidFill>
                <a:latin typeface="Noto Sans Kr"/>
                <a:ea typeface="Noto Sans Kr"/>
                <a:cs typeface="Noto Sans Kr"/>
                <a:sym typeface="Noto Sans Kr"/>
              </a:rPr>
              <a:t>5조 | 강준우 김해리 손현우 황윤서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6197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09650"/>
            <a:ext cx="14287500" cy="59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42536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발표 구성</a:t>
            </a:r>
          </a:p>
        </p:txBody>
      </p:sp>
      <p:sp>
        <p:nvSpPr>
          <p:cNvPr name="AutoShape 4" id="4"/>
          <p:cNvSpPr/>
          <p:nvPr/>
        </p:nvSpPr>
        <p:spPr>
          <a:xfrm>
            <a:off x="1066800" y="1790700"/>
            <a:ext cx="16154400" cy="0"/>
          </a:xfrm>
          <a:prstGeom prst="line">
            <a:avLst/>
          </a:prstGeom>
          <a:ln cap="flat" w="19050">
            <a:solidFill>
              <a:srgbClr val="D7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876300" y="2571750"/>
            <a:ext cx="12125325" cy="990600"/>
            <a:chOff x="0" y="0"/>
            <a:chExt cx="16167100" cy="13208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1600" cy="1320800"/>
              <a:chOff x="0" y="0"/>
              <a:chExt cx="101600" cy="1320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1600" cy="1320800"/>
              </a:xfrm>
              <a:custGeom>
                <a:avLst/>
                <a:gdLst/>
                <a:ahLst/>
                <a:cxnLst/>
                <a:rect r="r" b="b" t="t" l="l"/>
                <a:pathLst>
                  <a:path h="13208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1677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1600" cy="1358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54000" y="200025"/>
              <a:ext cx="1143000" cy="470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2550" b="true">
                  <a:solidFill>
                    <a:srgbClr val="1677C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943100" y="152400"/>
              <a:ext cx="4572000" cy="457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42536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시장 배경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43100" y="676275"/>
              <a:ext cx="14224000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60728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AI 데이터센터 전력수요와 육상 인프라 병목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76300" y="4076700"/>
            <a:ext cx="12125325" cy="990600"/>
            <a:chOff x="0" y="0"/>
            <a:chExt cx="16167100" cy="13208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1600" cy="1320800"/>
              <a:chOff x="0" y="0"/>
              <a:chExt cx="101600" cy="1320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1600" cy="1320800"/>
              </a:xfrm>
              <a:custGeom>
                <a:avLst/>
                <a:gdLst/>
                <a:ahLst/>
                <a:cxnLst/>
                <a:rect r="r" b="b" t="t" l="l"/>
                <a:pathLst>
                  <a:path h="13208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1677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1600" cy="1358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54000" y="200025"/>
              <a:ext cx="1143000" cy="470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2550" b="true">
                  <a:solidFill>
                    <a:srgbClr val="1677C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02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943100" y="152400"/>
              <a:ext cx="4572000" cy="457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42536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평가 기준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943100" y="676275"/>
              <a:ext cx="14224000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60728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선체·전력·열관리·사업화 4개 지표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76300" y="5581650"/>
            <a:ext cx="12125325" cy="990600"/>
            <a:chOff x="0" y="0"/>
            <a:chExt cx="16167100" cy="13208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01600" cy="1320800"/>
              <a:chOff x="0" y="0"/>
              <a:chExt cx="101600" cy="1320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1600" cy="1320800"/>
              </a:xfrm>
              <a:custGeom>
                <a:avLst/>
                <a:gdLst/>
                <a:ahLst/>
                <a:cxnLst/>
                <a:rect r="r" b="b" t="t" l="l"/>
                <a:pathLst>
                  <a:path h="13208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32B67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01600" cy="1358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54000" y="200025"/>
              <a:ext cx="1143000" cy="470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2550" b="true">
                  <a:solidFill>
                    <a:srgbClr val="32B67A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03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943100" y="152400"/>
              <a:ext cx="4572000" cy="457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42536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기업 비교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943100" y="676275"/>
              <a:ext cx="14224000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60728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종합점수와 공개 프로젝트 단계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6300" y="7086600"/>
            <a:ext cx="12125325" cy="990600"/>
            <a:chOff x="0" y="0"/>
            <a:chExt cx="16167100" cy="13208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01600" cy="1320800"/>
              <a:chOff x="0" y="0"/>
              <a:chExt cx="101600" cy="1320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1600" cy="1320800"/>
              </a:xfrm>
              <a:custGeom>
                <a:avLst/>
                <a:gdLst/>
                <a:ahLst/>
                <a:cxnLst/>
                <a:rect r="r" b="b" t="t" l="l"/>
                <a:pathLst>
                  <a:path h="13208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1677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01600" cy="1358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54000" y="200025"/>
              <a:ext cx="1143000" cy="470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2550" b="true">
                  <a:solidFill>
                    <a:srgbClr val="1677C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04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943100" y="152400"/>
              <a:ext cx="4572000" cy="457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42536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핵심 변수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943100" y="676275"/>
              <a:ext cx="14224000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60728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EPC 전환·장기 운전·규제 리스크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906500" y="2781300"/>
            <a:ext cx="3238500" cy="2381250"/>
            <a:chOff x="0" y="0"/>
            <a:chExt cx="4318000" cy="31750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4318000" cy="3175000"/>
              <a:chOff x="0" y="0"/>
              <a:chExt cx="4318000" cy="3175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318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4318000">
                    <a:moveTo>
                      <a:pt x="67235" y="0"/>
                    </a:moveTo>
                    <a:lnTo>
                      <a:pt x="4250765" y="0"/>
                    </a:lnTo>
                    <a:cubicBezTo>
                      <a:pt x="4287898" y="0"/>
                      <a:pt x="4318000" y="30102"/>
                      <a:pt x="4318000" y="67235"/>
                    </a:cubicBezTo>
                    <a:lnTo>
                      <a:pt x="4318000" y="3107765"/>
                    </a:lnTo>
                    <a:cubicBezTo>
                      <a:pt x="4318000" y="3144898"/>
                      <a:pt x="4287898" y="3175000"/>
                      <a:pt x="4250765" y="3175000"/>
                    </a:cubicBezTo>
                    <a:lnTo>
                      <a:pt x="67235" y="3175000"/>
                    </a:lnTo>
                    <a:cubicBezTo>
                      <a:pt x="30102" y="3175000"/>
                      <a:pt x="0" y="3144898"/>
                      <a:pt x="0" y="3107765"/>
                    </a:cubicBezTo>
                    <a:lnTo>
                      <a:pt x="0" y="67235"/>
                    </a:lnTo>
                    <a:cubicBezTo>
                      <a:pt x="0" y="30102"/>
                      <a:pt x="30102" y="0"/>
                      <a:pt x="672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4318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508000" y="787400"/>
              <a:ext cx="3302000" cy="777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4200" b="true">
                  <a:solidFill>
                    <a:srgbClr val="1677C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약 5분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508000" y="1749425"/>
              <a:ext cx="330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b="true" sz="1350" spc="162">
                  <a:solidFill>
                    <a:srgbClr val="1677C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발표 시간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66800" y="9725025"/>
            <a:ext cx="5715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PT INTERVIEW  |  2026.09.30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73500" y="9725025"/>
            <a:ext cx="6667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6197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01  MARKET CONTEXT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09650"/>
            <a:ext cx="14287500" cy="59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42536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AI 데이터센터 전력수요와 육상 병목</a:t>
            </a:r>
          </a:p>
        </p:txBody>
      </p:sp>
      <p:sp>
        <p:nvSpPr>
          <p:cNvPr name="AutoShape 4" id="4"/>
          <p:cNvSpPr/>
          <p:nvPr/>
        </p:nvSpPr>
        <p:spPr>
          <a:xfrm>
            <a:off x="1066800" y="1790700"/>
            <a:ext cx="16154400" cy="0"/>
          </a:xfrm>
          <a:prstGeom prst="line">
            <a:avLst/>
          </a:prstGeom>
          <a:ln cap="flat" w="19050">
            <a:solidFill>
              <a:srgbClr val="D7E0E5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54648" y="1843364"/>
            <a:ext cx="9234804" cy="6219273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66800" y="7524750"/>
            <a:ext cx="78105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485 TWh 2025 → 950 TWh 2030 전망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7981950"/>
            <a:ext cx="8096250" cy="57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42536"/>
                </a:solidFill>
                <a:latin typeface="Noto Sans Kr"/>
                <a:ea typeface="Noto Sans Kr"/>
                <a:cs typeface="Noto Sans Kr"/>
                <a:sym typeface="Noto Sans Kr"/>
              </a:rPr>
              <a:t>약 2배 증가  |  2030년 세계 전력수요의 약 3%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42536"/>
                </a:solidFill>
                <a:latin typeface="Noto Sans Kr"/>
                <a:ea typeface="Noto Sans Kr"/>
                <a:cs typeface="Noto Sans Kr"/>
                <a:sym typeface="Noto Sans Kr"/>
              </a:rPr>
              <a:t>미국 전력수요 증가분의 약 50%를 데이터센터가 차지할 전망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0" y="2667000"/>
            <a:ext cx="66675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42536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육상 데이터센터 병목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6000" y="3362325"/>
            <a:ext cx="5905500" cy="67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142536"/>
                </a:solidFill>
                <a:latin typeface="Noto Sans Kr"/>
                <a:ea typeface="Noto Sans Kr"/>
                <a:cs typeface="Noto Sans Kr"/>
                <a:sym typeface="Noto Sans Kr"/>
              </a:rPr>
              <a:t>부지</a:t>
            </a:r>
          </a:p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142536"/>
                </a:solidFill>
                <a:latin typeface="Noto Sans Kr"/>
                <a:ea typeface="Noto Sans Kr"/>
                <a:cs typeface="Noto Sans Kr"/>
                <a:sym typeface="Noto Sans Kr"/>
              </a:rPr>
              <a:t>대규모 부지와 인허가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0" y="4714875"/>
            <a:ext cx="5905500" cy="67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142536"/>
                </a:solidFill>
                <a:latin typeface="Noto Sans Kr"/>
                <a:ea typeface="Noto Sans Kr"/>
                <a:cs typeface="Noto Sans Kr"/>
                <a:sym typeface="Noto Sans Kr"/>
              </a:rPr>
              <a:t>전력</a:t>
            </a:r>
          </a:p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142536"/>
                </a:solidFill>
                <a:latin typeface="Noto Sans Kr"/>
                <a:ea typeface="Noto Sans Kr"/>
                <a:cs typeface="Noto Sans Kr"/>
                <a:sym typeface="Noto Sans Kr"/>
              </a:rPr>
              <a:t>계통 접속과 공급 여력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0" y="6067425"/>
            <a:ext cx="5905500" cy="67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142536"/>
                </a:solidFill>
                <a:latin typeface="Noto Sans Kr"/>
                <a:ea typeface="Noto Sans Kr"/>
                <a:cs typeface="Noto Sans Kr"/>
                <a:sym typeface="Noto Sans Kr"/>
              </a:rPr>
              <a:t>냉각</a:t>
            </a:r>
          </a:p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142536"/>
                </a:solidFill>
                <a:latin typeface="Noto Sans Kr"/>
                <a:ea typeface="Noto Sans Kr"/>
                <a:cs typeface="Noto Sans Kr"/>
                <a:sym typeface="Noto Sans Kr"/>
              </a:rPr>
              <a:t>고발열 AI 서버의 열처리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06000" y="7858125"/>
            <a:ext cx="67627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2B67A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FDC  |  해상 입지와 전력·냉각 인프라의 동시 설계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06000" y="9039225"/>
            <a:ext cx="5715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출처: IEA · Uptime Institute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6800" y="9725025"/>
            <a:ext cx="5715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PT INTERVIEW  |  2026.09.30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73500" y="9725025"/>
            <a:ext cx="6667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6197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02  EVALUATION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09650"/>
            <a:ext cx="14287500" cy="59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42536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FDC 준비도는 4개 시스템의 통합 역량</a:t>
            </a:r>
          </a:p>
        </p:txBody>
      </p:sp>
      <p:sp>
        <p:nvSpPr>
          <p:cNvPr name="AutoShape 4" id="4"/>
          <p:cNvSpPr/>
          <p:nvPr/>
        </p:nvSpPr>
        <p:spPr>
          <a:xfrm>
            <a:off x="1066800" y="1790700"/>
            <a:ext cx="16154400" cy="0"/>
          </a:xfrm>
          <a:prstGeom prst="line">
            <a:avLst/>
          </a:prstGeom>
          <a:ln cap="flat" w="19050">
            <a:solidFill>
              <a:srgbClr val="D7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66800" y="2476500"/>
            <a:ext cx="3676650" cy="3333750"/>
            <a:chOff x="0" y="0"/>
            <a:chExt cx="4902200" cy="4445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902200" cy="4445000"/>
              <a:chOff x="0" y="0"/>
              <a:chExt cx="4902200" cy="4445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02200" cy="4445000"/>
              </a:xfrm>
              <a:custGeom>
                <a:avLst/>
                <a:gdLst/>
                <a:ahLst/>
                <a:cxnLst/>
                <a:rect r="r" b="b" t="t" l="l"/>
                <a:pathLst>
                  <a:path h="4445000" w="4902200">
                    <a:moveTo>
                      <a:pt x="0" y="0"/>
                    </a:moveTo>
                    <a:lnTo>
                      <a:pt x="4902200" y="0"/>
                    </a:lnTo>
                    <a:lnTo>
                      <a:pt x="49022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E0E5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902200" cy="448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55600" y="352425"/>
              <a:ext cx="889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2250" b="true">
                  <a:solidFill>
                    <a:srgbClr val="1677C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55600" y="1143000"/>
              <a:ext cx="4191000" cy="457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42536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선체·극한환경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55600" y="1917700"/>
              <a:ext cx="4191000" cy="75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부유체·계류·복원성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해양 구조 안전성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086350" y="2476500"/>
            <a:ext cx="3676650" cy="3333750"/>
            <a:chOff x="0" y="0"/>
            <a:chExt cx="4902200" cy="4445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902200" cy="4445000"/>
              <a:chOff x="0" y="0"/>
              <a:chExt cx="4902200" cy="4445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902200" cy="4445000"/>
              </a:xfrm>
              <a:custGeom>
                <a:avLst/>
                <a:gdLst/>
                <a:ahLst/>
                <a:cxnLst/>
                <a:rect r="r" b="b" t="t" l="l"/>
                <a:pathLst>
                  <a:path h="4445000" w="4902200">
                    <a:moveTo>
                      <a:pt x="0" y="0"/>
                    </a:moveTo>
                    <a:lnTo>
                      <a:pt x="4902200" y="0"/>
                    </a:lnTo>
                    <a:lnTo>
                      <a:pt x="49022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E0E5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4902200" cy="448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55600" y="352425"/>
              <a:ext cx="889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2250" b="true">
                  <a:solidFill>
                    <a:srgbClr val="32B67A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02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5600" y="1143000"/>
              <a:ext cx="4191000" cy="457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42536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해상 전력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5600" y="1917700"/>
              <a:ext cx="4191000" cy="75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발전·변전·UPS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해저 케이블·계통 연계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05900" y="2476500"/>
            <a:ext cx="3676650" cy="3333750"/>
            <a:chOff x="0" y="0"/>
            <a:chExt cx="4902200" cy="4445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902200" cy="4445000"/>
              <a:chOff x="0" y="0"/>
              <a:chExt cx="4902200" cy="4445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902200" cy="4445000"/>
              </a:xfrm>
              <a:custGeom>
                <a:avLst/>
                <a:gdLst/>
                <a:ahLst/>
                <a:cxnLst/>
                <a:rect r="r" b="b" t="t" l="l"/>
                <a:pathLst>
                  <a:path h="4445000" w="4902200">
                    <a:moveTo>
                      <a:pt x="0" y="0"/>
                    </a:moveTo>
                    <a:lnTo>
                      <a:pt x="4902200" y="0"/>
                    </a:lnTo>
                    <a:lnTo>
                      <a:pt x="49022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E0E5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4902200" cy="448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55600" y="352425"/>
              <a:ext cx="889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2250" b="true">
                  <a:solidFill>
                    <a:srgbClr val="1677C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03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55600" y="1143000"/>
              <a:ext cx="4191000" cy="457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42536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열관리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55600" y="1917700"/>
              <a:ext cx="4191000" cy="75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해수냉각·열교환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액체냉각·방오·부식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125450" y="2476500"/>
            <a:ext cx="3676650" cy="3333750"/>
            <a:chOff x="0" y="0"/>
            <a:chExt cx="4902200" cy="4445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4902200" cy="4445000"/>
              <a:chOff x="0" y="0"/>
              <a:chExt cx="4902200" cy="4445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902200" cy="4445000"/>
              </a:xfrm>
              <a:custGeom>
                <a:avLst/>
                <a:gdLst/>
                <a:ahLst/>
                <a:cxnLst/>
                <a:rect r="r" b="b" t="t" l="l"/>
                <a:pathLst>
                  <a:path h="4445000" w="4902200">
                    <a:moveTo>
                      <a:pt x="0" y="0"/>
                    </a:moveTo>
                    <a:lnTo>
                      <a:pt x="4902200" y="0"/>
                    </a:lnTo>
                    <a:lnTo>
                      <a:pt x="49022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E0E5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4902200" cy="448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55600" y="352425"/>
              <a:ext cx="889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2250" b="true">
                  <a:solidFill>
                    <a:srgbClr val="32B67A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04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55600" y="1143000"/>
              <a:ext cx="4191000" cy="457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42536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사업화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55600" y="1917700"/>
              <a:ext cx="4191000" cy="75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선급·MOU·LOI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Engineering·EPC·운영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66800" y="6391275"/>
            <a:ext cx="4000500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850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4개 지표 각 25%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6800" y="7019925"/>
            <a:ext cx="2476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평가 원칙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66800" y="7410450"/>
            <a:ext cx="14954250" cy="57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42536"/>
                </a:solidFill>
                <a:latin typeface="Noto Sans Kr"/>
                <a:ea typeface="Noto Sans Kr"/>
                <a:cs typeface="Noto Sans Kr"/>
                <a:sym typeface="Noto Sans Kr"/>
              </a:rPr>
              <a:t>직접 FDC 공개 근거와 인접 해양·전력 역량을 분리해 평가. AiP는 개념설계의 선급 적합성, MOU·LOI는 협력·의향 단계로 해석. 열관리 점수는 공개 실증 범위가 제한되어 상대적으로 확신도가 낮음.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66800" y="9725025"/>
            <a:ext cx="5715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PT INTERVIEW  |  2026.09.30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573500" y="9725025"/>
            <a:ext cx="6667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6197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7ED6E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03  COMPETITIVE MATRIX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09650"/>
            <a:ext cx="14287500" cy="59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기업별 경쟁력 매트릭스</a:t>
            </a:r>
          </a:p>
        </p:txBody>
      </p:sp>
      <p:sp>
        <p:nvSpPr>
          <p:cNvPr name="AutoShape 4" id="4"/>
          <p:cNvSpPr/>
          <p:nvPr/>
        </p:nvSpPr>
        <p:spPr>
          <a:xfrm>
            <a:off x="1066800" y="1790700"/>
            <a:ext cx="16154400" cy="0"/>
          </a:xfrm>
          <a:prstGeom prst="line">
            <a:avLst/>
          </a:prstGeom>
          <a:ln cap="flat" w="19050">
            <a:solidFill>
              <a:srgbClr val="2441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66800" y="2486025"/>
            <a:ext cx="3524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 spc="162">
                <a:solidFill>
                  <a:srgbClr val="7ED6E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기업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62500" y="2486025"/>
            <a:ext cx="1143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 spc="162">
                <a:solidFill>
                  <a:srgbClr val="7ED6E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선체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91250" y="2486025"/>
            <a:ext cx="1143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 spc="162">
                <a:solidFill>
                  <a:srgbClr val="7ED6E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전력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20000" y="2486025"/>
            <a:ext cx="1143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 spc="162">
                <a:solidFill>
                  <a:srgbClr val="7ED6E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열관리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48750" y="2486025"/>
            <a:ext cx="1143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 spc="162">
                <a:solidFill>
                  <a:srgbClr val="7ED6E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사업화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0" y="2486025"/>
            <a:ext cx="1143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 spc="162">
                <a:solidFill>
                  <a:srgbClr val="7ED6E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종합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96750" y="2486025"/>
            <a:ext cx="5143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 spc="162">
                <a:solidFill>
                  <a:srgbClr val="7ED6E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포지셔닝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76300" y="3086100"/>
            <a:ext cx="16535400" cy="990600"/>
            <a:chOff x="0" y="0"/>
            <a:chExt cx="22047200" cy="132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0472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123451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047200" cy="135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66800" y="3295650"/>
            <a:ext cx="3524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삼성중공업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62500" y="3295650"/>
            <a:ext cx="1143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5.0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91250" y="3295650"/>
            <a:ext cx="1143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5.0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20000" y="3295650"/>
            <a:ext cx="1143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4.5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48750" y="3295650"/>
            <a:ext cx="1143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5.0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77500" y="3286125"/>
            <a:ext cx="114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32B67A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4.9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96750" y="3295650"/>
            <a:ext cx="5143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상용화·고객 생태계 선도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76300" y="4419600"/>
            <a:ext cx="16535400" cy="990600"/>
            <a:chOff x="0" y="0"/>
            <a:chExt cx="22047200" cy="132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0472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0D263B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047200" cy="135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66800" y="4629150"/>
            <a:ext cx="3524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HD한국조선해양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762500" y="4629150"/>
            <a:ext cx="1143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5.0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191250" y="4629150"/>
            <a:ext cx="1143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5.0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20000" y="4629150"/>
            <a:ext cx="1143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4.0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048750" y="4629150"/>
            <a:ext cx="1143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3.5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77500" y="4619625"/>
            <a:ext cx="114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32B67A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4.4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96750" y="4629150"/>
            <a:ext cx="5143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전력·해양 플랫폼 최강형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76300" y="5753100"/>
            <a:ext cx="16535400" cy="990600"/>
            <a:chOff x="0" y="0"/>
            <a:chExt cx="22047200" cy="1320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0472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0D263B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2047200" cy="135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66800" y="5962650"/>
            <a:ext cx="3524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한화오션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762500" y="5962650"/>
            <a:ext cx="1143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5.0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191250" y="5962650"/>
            <a:ext cx="1143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4.0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620000" y="5962650"/>
            <a:ext cx="1143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4.0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048750" y="5962650"/>
            <a:ext cx="1143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4.0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477500" y="5953125"/>
            <a:ext cx="114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32B67A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4.3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096750" y="5962650"/>
            <a:ext cx="5143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모듈형 통합 FDC 제품형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76300" y="7086600"/>
            <a:ext cx="16535400" cy="990600"/>
            <a:chOff x="0" y="0"/>
            <a:chExt cx="22047200" cy="1320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0472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0D263B"/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2047200" cy="135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066800" y="7296150"/>
            <a:ext cx="3524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중국 주요 조선사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762500" y="7296150"/>
            <a:ext cx="1143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4.5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191250" y="7296150"/>
            <a:ext cx="1143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4.0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620000" y="7296150"/>
            <a:ext cx="1143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3.0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048750" y="7296150"/>
            <a:ext cx="1143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3.5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477500" y="7286625"/>
            <a:ext cx="114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32B67A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3.8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096750" y="7296150"/>
            <a:ext cx="5143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원자력 기반 고위험·고잠재력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66800" y="9725025"/>
            <a:ext cx="5715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9DB2C3"/>
                </a:solidFill>
                <a:latin typeface="Noto Sans Kr"/>
                <a:ea typeface="Noto Sans Kr"/>
                <a:cs typeface="Noto Sans Kr"/>
                <a:sym typeface="Noto Sans Kr"/>
              </a:rPr>
              <a:t>PT INTERVIEW  |  2026.09.30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573500" y="9725025"/>
            <a:ext cx="6667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DB2C3"/>
                </a:solidFill>
                <a:latin typeface="Noto Sans Kr"/>
                <a:ea typeface="Noto Sans Kr"/>
                <a:cs typeface="Noto Sans Kr"/>
                <a:sym typeface="Noto Sans K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6197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 5  ·  C O M P A R I S O 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09650"/>
            <a:ext cx="14287500" cy="59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42536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해상구조물 위 데이터센터 · 국내 조선 3사 비교</a:t>
            </a:r>
          </a:p>
        </p:txBody>
      </p:sp>
      <p:sp>
        <p:nvSpPr>
          <p:cNvPr name="AutoShape 4" id="4"/>
          <p:cNvSpPr/>
          <p:nvPr/>
        </p:nvSpPr>
        <p:spPr>
          <a:xfrm>
            <a:off x="1066800" y="1790700"/>
            <a:ext cx="16154400" cy="0"/>
          </a:xfrm>
          <a:prstGeom prst="line">
            <a:avLst/>
          </a:prstGeom>
          <a:ln cap="flat" w="19050">
            <a:solidFill>
              <a:srgbClr val="D7E0E5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3908" y="1425161"/>
            <a:ext cx="13520917" cy="8484428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3239750" y="3048000"/>
            <a:ext cx="34290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공개자료 기반</a:t>
            </a:r>
          </a:p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정성 비교 지수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39750" y="4248150"/>
            <a:ext cx="3429000" cy="871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42536"/>
                </a:solidFill>
                <a:latin typeface="Noto Sans Kr"/>
                <a:ea typeface="Noto Sans Kr"/>
                <a:cs typeface="Noto Sans Kr"/>
                <a:sym typeface="Noto Sans Kr"/>
              </a:rPr>
              <a:t>5  강한 공개 근거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42536"/>
                </a:solidFill>
                <a:latin typeface="Noto Sans Kr"/>
                <a:ea typeface="Noto Sans Kr"/>
                <a:cs typeface="Noto Sans Kr"/>
                <a:sym typeface="Noto Sans Kr"/>
              </a:rPr>
              <a:t>4  경쟁력 확인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42536"/>
                </a:solidFill>
                <a:latin typeface="Noto Sans Kr"/>
                <a:ea typeface="Noto Sans Kr"/>
                <a:cs typeface="Noto Sans Kr"/>
                <a:sym typeface="Noto Sans Kr"/>
              </a:rPr>
              <a:t>3  개념·인접 역량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39750" y="7496175"/>
            <a:ext cx="3524250" cy="460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척도: 1–5 정성 지수</a:t>
            </a:r>
          </a:p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출처: 각 사 공개자료·선급 발표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9725025"/>
            <a:ext cx="5715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PT INTERVIEW  |  2026.09.30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73500" y="9725025"/>
            <a:ext cx="6667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6197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 2 · C O M P A N Y 0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09650"/>
            <a:ext cx="14287500" cy="59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42536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HD한국조선해양</a:t>
            </a:r>
          </a:p>
        </p:txBody>
      </p:sp>
      <p:sp>
        <p:nvSpPr>
          <p:cNvPr name="AutoShape 4" id="4"/>
          <p:cNvSpPr/>
          <p:nvPr/>
        </p:nvSpPr>
        <p:spPr>
          <a:xfrm>
            <a:off x="1066800" y="1790700"/>
            <a:ext cx="16154400" cy="0"/>
          </a:xfrm>
          <a:prstGeom prst="line">
            <a:avLst/>
          </a:prstGeom>
          <a:ln cap="flat" w="19050">
            <a:solidFill>
              <a:srgbClr val="D7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62000" y="2400300"/>
            <a:ext cx="7810500" cy="5905500"/>
            <a:chOff x="0" y="0"/>
            <a:chExt cx="10414000" cy="787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14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7E0E5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414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66800" y="2600325"/>
            <a:ext cx="304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CORE POSITION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3095625"/>
            <a:ext cx="6477000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해상 전력 인프라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800" y="4057650"/>
            <a:ext cx="7239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42536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BMPP 100 MW급 부유식 발전설비 · ABS AiP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7439025"/>
            <a:ext cx="7239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POWER FIRST 접근법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6800" y="8829675"/>
            <a:ext cx="5715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출처: 각 사 공개자료 · 선급 발표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39250" y="2876550"/>
            <a:ext cx="7048500" cy="895350"/>
            <a:chOff x="0" y="0"/>
            <a:chExt cx="9398000" cy="11938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1600" cy="1193800"/>
              <a:chOff x="0" y="0"/>
              <a:chExt cx="101600" cy="1193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16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193800"/>
                    </a:lnTo>
                    <a:lnTo>
                      <a:pt x="0" y="1193800"/>
                    </a:lnTo>
                    <a:close/>
                  </a:path>
                </a:pathLst>
              </a:custGeom>
              <a:solidFill>
                <a:srgbClr val="1677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1600" cy="123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08000" y="53975"/>
              <a:ext cx="8890000" cy="40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 FDC 핵심 인프라 전력·냉각·제어·SW 통합 개발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39250" y="4324350"/>
            <a:ext cx="7048500" cy="895350"/>
            <a:chOff x="0" y="0"/>
            <a:chExt cx="9398000" cy="11938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1600" cy="1193800"/>
              <a:chOff x="0" y="0"/>
              <a:chExt cx="101600" cy="1193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16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193800"/>
                    </a:lnTo>
                    <a:lnTo>
                      <a:pt x="0" y="1193800"/>
                    </a:lnTo>
                    <a:close/>
                  </a:path>
                </a:pathLst>
              </a:custGeom>
              <a:solidFill>
                <a:srgbClr val="1677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1600" cy="123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08000" y="53975"/>
              <a:ext cx="8890000" cy="40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 Schneider 협력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39250" y="5772150"/>
            <a:ext cx="7048500" cy="895350"/>
            <a:chOff x="0" y="0"/>
            <a:chExt cx="9398000" cy="11938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1600" cy="1193800"/>
              <a:chOff x="0" y="0"/>
              <a:chExt cx="101600" cy="1193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16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193800"/>
                    </a:lnTo>
                    <a:lnTo>
                      <a:pt x="0" y="1193800"/>
                    </a:lnTo>
                    <a:close/>
                  </a:path>
                </a:pathLst>
              </a:custGeom>
              <a:solidFill>
                <a:srgbClr val="1677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01600" cy="123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508000" y="53975"/>
              <a:ext cx="8890000" cy="40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 부유식 발전설비와 해상 플랫폼 역량 결합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66800" y="9725025"/>
            <a:ext cx="5715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PT INTERVIEW  |  2026.09.30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573500" y="9725025"/>
            <a:ext cx="6667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6197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 3 · C O M P A N Y 0 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09650"/>
            <a:ext cx="14287500" cy="59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42536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삼성중공업</a:t>
            </a:r>
          </a:p>
        </p:txBody>
      </p:sp>
      <p:sp>
        <p:nvSpPr>
          <p:cNvPr name="AutoShape 4" id="4"/>
          <p:cNvSpPr/>
          <p:nvPr/>
        </p:nvSpPr>
        <p:spPr>
          <a:xfrm>
            <a:off x="1066800" y="1790700"/>
            <a:ext cx="16154400" cy="0"/>
          </a:xfrm>
          <a:prstGeom prst="line">
            <a:avLst/>
          </a:prstGeom>
          <a:ln cap="flat" w="19050">
            <a:solidFill>
              <a:srgbClr val="D7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62000" y="2400300"/>
            <a:ext cx="7810500" cy="5905500"/>
            <a:chOff x="0" y="0"/>
            <a:chExt cx="10414000" cy="787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14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7E0E5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414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66800" y="2600325"/>
            <a:ext cx="304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2B67A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CORE POSITION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3095625"/>
            <a:ext cx="6477000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b="true">
                <a:solidFill>
                  <a:srgbClr val="32B67A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FDC 직접 사업화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800" y="4057650"/>
            <a:ext cx="7239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42536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50 MW급 ABS + LR 개념설계 AiP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7439025"/>
            <a:ext cx="7239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2B67A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FDC AS A PRODUCT 접근법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6800" y="8829675"/>
            <a:ext cx="5715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출처: 각 사 공개자료 · 선급 발표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39250" y="2876550"/>
            <a:ext cx="7048500" cy="895350"/>
            <a:chOff x="0" y="0"/>
            <a:chExt cx="9398000" cy="11938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1600" cy="1193800"/>
              <a:chOff x="0" y="0"/>
              <a:chExt cx="101600" cy="1193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16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193800"/>
                    </a:lnTo>
                    <a:lnTo>
                      <a:pt x="0" y="1193800"/>
                    </a:lnTo>
                    <a:close/>
                  </a:path>
                </a:pathLst>
              </a:custGeom>
              <a:solidFill>
                <a:srgbClr val="32B67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1600" cy="123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08000" y="53975"/>
              <a:ext cx="8890000" cy="40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 표준화 설계·제작·설비통합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39250" y="4324350"/>
            <a:ext cx="7048500" cy="895350"/>
            <a:chOff x="0" y="0"/>
            <a:chExt cx="9398000" cy="11938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1600" cy="1193800"/>
              <a:chOff x="0" y="0"/>
              <a:chExt cx="101600" cy="1193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16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193800"/>
                    </a:lnTo>
                    <a:lnTo>
                      <a:pt x="0" y="1193800"/>
                    </a:lnTo>
                    <a:close/>
                  </a:path>
                </a:pathLst>
              </a:custGeom>
              <a:solidFill>
                <a:srgbClr val="32B67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1600" cy="123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08000" y="53975"/>
              <a:ext cx="8890000" cy="40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 AI 서버 Supermicro 검증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39250" y="5772150"/>
            <a:ext cx="7048500" cy="895350"/>
            <a:chOff x="0" y="0"/>
            <a:chExt cx="9398000" cy="11938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1600" cy="1193800"/>
              <a:chOff x="0" y="0"/>
              <a:chExt cx="101600" cy="1193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16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193800"/>
                    </a:lnTo>
                    <a:lnTo>
                      <a:pt x="0" y="1193800"/>
                    </a:lnTo>
                    <a:close/>
                  </a:path>
                </a:pathLst>
              </a:custGeom>
              <a:solidFill>
                <a:srgbClr val="32B67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01600" cy="123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508000" y="53975"/>
              <a:ext cx="8890000" cy="40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 고객·선급 생태계 기반 사업화 근접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66800" y="9725025"/>
            <a:ext cx="5715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PT INTERVIEW  |  2026.09.30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573500" y="9725025"/>
            <a:ext cx="6667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6197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 4 · C O M P A N Y 0 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09650"/>
            <a:ext cx="14287500" cy="59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42536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한화오션</a:t>
            </a:r>
          </a:p>
        </p:txBody>
      </p:sp>
      <p:sp>
        <p:nvSpPr>
          <p:cNvPr name="AutoShape 4" id="4"/>
          <p:cNvSpPr/>
          <p:nvPr/>
        </p:nvSpPr>
        <p:spPr>
          <a:xfrm>
            <a:off x="1066800" y="1790700"/>
            <a:ext cx="16154400" cy="0"/>
          </a:xfrm>
          <a:prstGeom prst="line">
            <a:avLst/>
          </a:prstGeom>
          <a:ln cap="flat" w="19050">
            <a:solidFill>
              <a:srgbClr val="D7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62000" y="2400300"/>
            <a:ext cx="7810500" cy="5905500"/>
            <a:chOff x="0" y="0"/>
            <a:chExt cx="10414000" cy="787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14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7E0E5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414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66800" y="2600325"/>
            <a:ext cx="304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CORE POSITION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3095625"/>
            <a:ext cx="6477000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모듈형 FDC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800" y="4057650"/>
            <a:ext cx="7239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42536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60 MW급 ABS 개념설계 AiP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7439025"/>
            <a:ext cx="7239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MODULAR PLATFORM 접근법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6800" y="8829675"/>
            <a:ext cx="5715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출처: 각 사 공개자료 · 선급 발표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39250" y="2876550"/>
            <a:ext cx="7048500" cy="895350"/>
            <a:chOff x="0" y="0"/>
            <a:chExt cx="9398000" cy="11938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1600" cy="1193800"/>
              <a:chOff x="0" y="0"/>
              <a:chExt cx="101600" cy="1193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16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193800"/>
                    </a:lnTo>
                    <a:lnTo>
                      <a:pt x="0" y="1193800"/>
                    </a:lnTo>
                    <a:close/>
                  </a:path>
                </a:pathLst>
              </a:custGeom>
              <a:solidFill>
                <a:srgbClr val="1677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1600" cy="123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08000" y="53975"/>
              <a:ext cx="8890000" cy="40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 해수냉각 시스템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39250" y="4324350"/>
            <a:ext cx="7048500" cy="895350"/>
            <a:chOff x="0" y="0"/>
            <a:chExt cx="9398000" cy="11938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1600" cy="1193800"/>
              <a:chOff x="0" y="0"/>
              <a:chExt cx="101600" cy="1193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16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193800"/>
                    </a:lnTo>
                    <a:lnTo>
                      <a:pt x="0" y="1193800"/>
                    </a:lnTo>
                    <a:close/>
                  </a:path>
                </a:pathLst>
              </a:custGeom>
              <a:solidFill>
                <a:srgbClr val="1677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1600" cy="123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08000" y="53975"/>
              <a:ext cx="8890000" cy="40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 모듈러 발전·전력·서버 구성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39250" y="5772150"/>
            <a:ext cx="7048500" cy="895350"/>
            <a:chOff x="0" y="0"/>
            <a:chExt cx="9398000" cy="11938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1600" cy="1193800"/>
              <a:chOff x="0" y="0"/>
              <a:chExt cx="101600" cy="1193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16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193800"/>
                    </a:lnTo>
                    <a:lnTo>
                      <a:pt x="0" y="1193800"/>
                    </a:lnTo>
                    <a:close/>
                  </a:path>
                </a:pathLst>
              </a:custGeom>
              <a:solidFill>
                <a:srgbClr val="1677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01600" cy="123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508000" y="53975"/>
              <a:ext cx="8890000" cy="40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 용량 유연화와 통합 플랫폼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66800" y="9725025"/>
            <a:ext cx="5715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PT INTERVIEW  |  2026.09.30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573500" y="9725025"/>
            <a:ext cx="6667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6197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03  EVIDENCE &amp; ENTRY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09650"/>
            <a:ext cx="14287500" cy="59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42536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기업별 공개 근거와 진입 방식</a:t>
            </a:r>
          </a:p>
        </p:txBody>
      </p:sp>
      <p:sp>
        <p:nvSpPr>
          <p:cNvPr name="AutoShape 4" id="4"/>
          <p:cNvSpPr/>
          <p:nvPr/>
        </p:nvSpPr>
        <p:spPr>
          <a:xfrm>
            <a:off x="1066800" y="1790700"/>
            <a:ext cx="16154400" cy="0"/>
          </a:xfrm>
          <a:prstGeom prst="line">
            <a:avLst/>
          </a:prstGeom>
          <a:ln cap="flat" w="19050">
            <a:solidFill>
              <a:srgbClr val="D7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66800" y="2571750"/>
            <a:ext cx="7715250" cy="2724150"/>
            <a:chOff x="0" y="0"/>
            <a:chExt cx="10287000" cy="36322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287000" cy="3632200"/>
              <a:chOff x="0" y="0"/>
              <a:chExt cx="10287000" cy="36322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287000" cy="3632200"/>
              </a:xfrm>
              <a:custGeom>
                <a:avLst/>
                <a:gdLst/>
                <a:ahLst/>
                <a:cxnLst/>
                <a:rect r="r" b="b" t="t" l="l"/>
                <a:pathLst>
                  <a:path h="3632200" w="102870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3632200"/>
                    </a:lnTo>
                    <a:lnTo>
                      <a:pt x="0" y="36322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E0E5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287000" cy="3670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81000" y="330200"/>
              <a:ext cx="9144000" cy="457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42536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삼성중공업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81000" y="1038225"/>
              <a:ext cx="9144000" cy="1104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50 MW급 ABS + LR 개념설계 AiP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표준화 설계·제작·설비통합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AI 서버 검증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81000" y="2994025"/>
              <a:ext cx="9144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2B67A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FDC AS A PRODUCT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63050" y="2571750"/>
            <a:ext cx="7715250" cy="2724150"/>
            <a:chOff x="0" y="0"/>
            <a:chExt cx="10287000" cy="36322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287000" cy="3632200"/>
              <a:chOff x="0" y="0"/>
              <a:chExt cx="10287000" cy="36322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287000" cy="3632200"/>
              </a:xfrm>
              <a:custGeom>
                <a:avLst/>
                <a:gdLst/>
                <a:ahLst/>
                <a:cxnLst/>
                <a:rect r="r" b="b" t="t" l="l"/>
                <a:pathLst>
                  <a:path h="3632200" w="102870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3632200"/>
                    </a:lnTo>
                    <a:lnTo>
                      <a:pt x="0" y="36322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E0E5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287000" cy="3670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81000" y="330200"/>
              <a:ext cx="9144000" cy="457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42536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HD한국조선해양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1000" y="1038225"/>
              <a:ext cx="9144000" cy="1104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BMPP 100 MW급 · ABS AiP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전력·냉각·제어·SW 통합 개발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Schneider 협력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81000" y="2994025"/>
              <a:ext cx="9144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677C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POWER FIRST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66800" y="5715000"/>
            <a:ext cx="7715250" cy="2724150"/>
            <a:chOff x="0" y="0"/>
            <a:chExt cx="10287000" cy="36322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0287000" cy="3632200"/>
              <a:chOff x="0" y="0"/>
              <a:chExt cx="10287000" cy="36322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287000" cy="3632200"/>
              </a:xfrm>
              <a:custGeom>
                <a:avLst/>
                <a:gdLst/>
                <a:ahLst/>
                <a:cxnLst/>
                <a:rect r="r" b="b" t="t" l="l"/>
                <a:pathLst>
                  <a:path h="3632200" w="102870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3632200"/>
                    </a:lnTo>
                    <a:lnTo>
                      <a:pt x="0" y="36322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E0E5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0287000" cy="3670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81000" y="330200"/>
              <a:ext cx="9144000" cy="457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42536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한화오션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81000" y="1038225"/>
              <a:ext cx="9144000" cy="1104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60 MW급 ABS 개념설계 AiP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해수냉각 시스템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모듈러 발전·전력·서버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81000" y="2994025"/>
              <a:ext cx="9144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2B67A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MODULAR PLATFORM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63050" y="5715000"/>
            <a:ext cx="7715250" cy="2724150"/>
            <a:chOff x="0" y="0"/>
            <a:chExt cx="10287000" cy="36322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0287000" cy="3632200"/>
              <a:chOff x="0" y="0"/>
              <a:chExt cx="10287000" cy="36322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287000" cy="3632200"/>
              </a:xfrm>
              <a:custGeom>
                <a:avLst/>
                <a:gdLst/>
                <a:ahLst/>
                <a:cxnLst/>
                <a:rect r="r" b="b" t="t" l="l"/>
                <a:pathLst>
                  <a:path h="3632200" w="102870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3632200"/>
                    </a:lnTo>
                    <a:lnTo>
                      <a:pt x="0" y="36322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E0E5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0287000" cy="3670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81000" y="330200"/>
              <a:ext cx="9144000" cy="457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42536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중국 대표군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81000" y="1038225"/>
              <a:ext cx="9144000" cy="1104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원자력 기반 해상 전력 구상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대형 조선·해양 구조물 역량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14253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고위험·고잠재력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2994025"/>
              <a:ext cx="9144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32B67A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원자력 기반 통합 진입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66800" y="9020175"/>
            <a:ext cx="11430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1677C8"/>
                </a:solidFill>
                <a:latin typeface="Noto Sans Kr"/>
                <a:ea typeface="Noto Sans Kr"/>
                <a:cs typeface="Noto Sans Kr"/>
                <a:sym typeface="Noto Sans Kr"/>
              </a:rPr>
              <a:t>읽는 법: 직접 FDC 근거와 인접 역량을 분리해 비교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6800" y="9725025"/>
            <a:ext cx="5715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PT INTERVIEW  |  2026.09.30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73500" y="9725025"/>
            <a:ext cx="6667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6197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04  KEY VARIABLES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09650"/>
            <a:ext cx="14287500" cy="59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42536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상업화의 관문: 계약 전환과 장기 운전</a:t>
            </a:r>
          </a:p>
        </p:txBody>
      </p:sp>
      <p:sp>
        <p:nvSpPr>
          <p:cNvPr name="AutoShape 4" id="4"/>
          <p:cNvSpPr/>
          <p:nvPr/>
        </p:nvSpPr>
        <p:spPr>
          <a:xfrm>
            <a:off x="1066800" y="1790700"/>
            <a:ext cx="16154400" cy="0"/>
          </a:xfrm>
          <a:prstGeom prst="line">
            <a:avLst/>
          </a:prstGeom>
          <a:ln cap="flat" w="19050">
            <a:solidFill>
              <a:srgbClr val="D7E0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66800" y="2486025"/>
            <a:ext cx="381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현재 공개 사업 단계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" y="2876550"/>
            <a:ext cx="104775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AiP · MOU · LOI · JDP · Engineering 중심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492442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C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6~24개월 모니터링 지표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8420100"/>
            <a:ext cx="11430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32B67A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핵심 판별: 발표된 MW보다 계약 전환과 운영 데이터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3848100"/>
            <a:ext cx="4381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42536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01  EPC·FID 전환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15050" y="3848100"/>
            <a:ext cx="4381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42536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02  열관리 실증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63300" y="3848100"/>
            <a:ext cx="4381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42536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03  규제·책임 설명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66800" y="6076950"/>
            <a:ext cx="2724150" cy="838200"/>
            <a:chOff x="0" y="0"/>
            <a:chExt cx="3632200" cy="1117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322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3632200">
                  <a:moveTo>
                    <a:pt x="71049" y="0"/>
                  </a:moveTo>
                  <a:lnTo>
                    <a:pt x="3561151" y="0"/>
                  </a:lnTo>
                  <a:cubicBezTo>
                    <a:pt x="3579994" y="0"/>
                    <a:pt x="3598066" y="7485"/>
                    <a:pt x="3611390" y="20810"/>
                  </a:cubicBezTo>
                  <a:cubicBezTo>
                    <a:pt x="3624714" y="34134"/>
                    <a:pt x="3632200" y="52206"/>
                    <a:pt x="3632200" y="71049"/>
                  </a:cubicBezTo>
                  <a:lnTo>
                    <a:pt x="3632200" y="1046551"/>
                  </a:lnTo>
                  <a:cubicBezTo>
                    <a:pt x="3632200" y="1065394"/>
                    <a:pt x="3624714" y="1083466"/>
                    <a:pt x="3611390" y="1096790"/>
                  </a:cubicBezTo>
                  <a:cubicBezTo>
                    <a:pt x="3598066" y="1110115"/>
                    <a:pt x="3579994" y="1117600"/>
                    <a:pt x="3561151" y="1117600"/>
                  </a:cubicBezTo>
                  <a:lnTo>
                    <a:pt x="71049" y="1117600"/>
                  </a:lnTo>
                  <a:cubicBezTo>
                    <a:pt x="52206" y="1117600"/>
                    <a:pt x="34134" y="1110115"/>
                    <a:pt x="20810" y="1096790"/>
                  </a:cubicBezTo>
                  <a:cubicBezTo>
                    <a:pt x="7485" y="1083466"/>
                    <a:pt x="0" y="1065394"/>
                    <a:pt x="0" y="1046551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solidFill>
              <a:srgbClr val="1677C8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632200" cy="1146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MOU / LOI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3790950" y="6496050"/>
            <a:ext cx="495300" cy="0"/>
          </a:xfrm>
          <a:prstGeom prst="line">
            <a:avLst/>
          </a:prstGeom>
          <a:ln cap="rnd" w="28575">
            <a:solidFill>
              <a:srgbClr val="60728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4400550" y="6076950"/>
            <a:ext cx="2724150" cy="838200"/>
            <a:chOff x="0" y="0"/>
            <a:chExt cx="3632200" cy="1117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22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3632200">
                  <a:moveTo>
                    <a:pt x="71049" y="0"/>
                  </a:moveTo>
                  <a:lnTo>
                    <a:pt x="3561151" y="0"/>
                  </a:lnTo>
                  <a:cubicBezTo>
                    <a:pt x="3579994" y="0"/>
                    <a:pt x="3598066" y="7485"/>
                    <a:pt x="3611390" y="20810"/>
                  </a:cubicBezTo>
                  <a:cubicBezTo>
                    <a:pt x="3624714" y="34134"/>
                    <a:pt x="3632200" y="52206"/>
                    <a:pt x="3632200" y="71049"/>
                  </a:cubicBezTo>
                  <a:lnTo>
                    <a:pt x="3632200" y="1046551"/>
                  </a:lnTo>
                  <a:cubicBezTo>
                    <a:pt x="3632200" y="1065394"/>
                    <a:pt x="3624714" y="1083466"/>
                    <a:pt x="3611390" y="1096790"/>
                  </a:cubicBezTo>
                  <a:cubicBezTo>
                    <a:pt x="3598066" y="1110115"/>
                    <a:pt x="3579994" y="1117600"/>
                    <a:pt x="3561151" y="1117600"/>
                  </a:cubicBezTo>
                  <a:lnTo>
                    <a:pt x="71049" y="1117600"/>
                  </a:lnTo>
                  <a:cubicBezTo>
                    <a:pt x="52206" y="1117600"/>
                    <a:pt x="34134" y="1110115"/>
                    <a:pt x="20810" y="1096790"/>
                  </a:cubicBezTo>
                  <a:cubicBezTo>
                    <a:pt x="7485" y="1083466"/>
                    <a:pt x="0" y="1065394"/>
                    <a:pt x="0" y="1046551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solidFill>
              <a:srgbClr val="1677C8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632200" cy="1146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AiP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7124700" y="6496050"/>
            <a:ext cx="495300" cy="0"/>
          </a:xfrm>
          <a:prstGeom prst="line">
            <a:avLst/>
          </a:prstGeom>
          <a:ln cap="rnd" w="28575">
            <a:solidFill>
              <a:srgbClr val="60728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7734300" y="6076950"/>
            <a:ext cx="2724150" cy="838200"/>
            <a:chOff x="0" y="0"/>
            <a:chExt cx="3632200" cy="1117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322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3632200">
                  <a:moveTo>
                    <a:pt x="71049" y="0"/>
                  </a:moveTo>
                  <a:lnTo>
                    <a:pt x="3561151" y="0"/>
                  </a:lnTo>
                  <a:cubicBezTo>
                    <a:pt x="3579994" y="0"/>
                    <a:pt x="3598066" y="7485"/>
                    <a:pt x="3611390" y="20810"/>
                  </a:cubicBezTo>
                  <a:cubicBezTo>
                    <a:pt x="3624714" y="34134"/>
                    <a:pt x="3632200" y="52206"/>
                    <a:pt x="3632200" y="71049"/>
                  </a:cubicBezTo>
                  <a:lnTo>
                    <a:pt x="3632200" y="1046551"/>
                  </a:lnTo>
                  <a:cubicBezTo>
                    <a:pt x="3632200" y="1065394"/>
                    <a:pt x="3624714" y="1083466"/>
                    <a:pt x="3611390" y="1096790"/>
                  </a:cubicBezTo>
                  <a:cubicBezTo>
                    <a:pt x="3598066" y="1110115"/>
                    <a:pt x="3579994" y="1117600"/>
                    <a:pt x="3561151" y="1117600"/>
                  </a:cubicBezTo>
                  <a:lnTo>
                    <a:pt x="71049" y="1117600"/>
                  </a:lnTo>
                  <a:cubicBezTo>
                    <a:pt x="52206" y="1117600"/>
                    <a:pt x="34134" y="1110115"/>
                    <a:pt x="20810" y="1096790"/>
                  </a:cubicBezTo>
                  <a:cubicBezTo>
                    <a:pt x="7485" y="1083466"/>
                    <a:pt x="0" y="1065394"/>
                    <a:pt x="0" y="1046551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solidFill>
              <a:srgbClr val="1677C8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632200" cy="1146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Engineering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0458450" y="6496050"/>
            <a:ext cx="495300" cy="0"/>
          </a:xfrm>
          <a:prstGeom prst="line">
            <a:avLst/>
          </a:prstGeom>
          <a:ln cap="rnd" w="28575">
            <a:solidFill>
              <a:srgbClr val="60728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1068050" y="6076950"/>
            <a:ext cx="2724150" cy="838200"/>
            <a:chOff x="0" y="0"/>
            <a:chExt cx="3632200" cy="1117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322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3632200">
                  <a:moveTo>
                    <a:pt x="71049" y="0"/>
                  </a:moveTo>
                  <a:lnTo>
                    <a:pt x="3561151" y="0"/>
                  </a:lnTo>
                  <a:cubicBezTo>
                    <a:pt x="3579994" y="0"/>
                    <a:pt x="3598066" y="7485"/>
                    <a:pt x="3611390" y="20810"/>
                  </a:cubicBezTo>
                  <a:cubicBezTo>
                    <a:pt x="3624714" y="34134"/>
                    <a:pt x="3632200" y="52206"/>
                    <a:pt x="3632200" y="71049"/>
                  </a:cubicBezTo>
                  <a:lnTo>
                    <a:pt x="3632200" y="1046551"/>
                  </a:lnTo>
                  <a:cubicBezTo>
                    <a:pt x="3632200" y="1065394"/>
                    <a:pt x="3624714" y="1083466"/>
                    <a:pt x="3611390" y="1096790"/>
                  </a:cubicBezTo>
                  <a:cubicBezTo>
                    <a:pt x="3598066" y="1110115"/>
                    <a:pt x="3579994" y="1117600"/>
                    <a:pt x="3561151" y="1117600"/>
                  </a:cubicBezTo>
                  <a:lnTo>
                    <a:pt x="71049" y="1117600"/>
                  </a:lnTo>
                  <a:cubicBezTo>
                    <a:pt x="52206" y="1117600"/>
                    <a:pt x="34134" y="1110115"/>
                    <a:pt x="20810" y="1096790"/>
                  </a:cubicBezTo>
                  <a:cubicBezTo>
                    <a:pt x="7485" y="1083466"/>
                    <a:pt x="0" y="1065394"/>
                    <a:pt x="0" y="1046551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solidFill>
              <a:srgbClr val="32B67A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632200" cy="1146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EPC / FID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3792200" y="6496050"/>
            <a:ext cx="495300" cy="0"/>
          </a:xfrm>
          <a:prstGeom prst="line">
            <a:avLst/>
          </a:prstGeom>
          <a:ln cap="rnd" w="28575">
            <a:solidFill>
              <a:srgbClr val="60728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4401800" y="6076950"/>
            <a:ext cx="2724150" cy="838200"/>
            <a:chOff x="0" y="0"/>
            <a:chExt cx="3632200" cy="1117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322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3632200">
                  <a:moveTo>
                    <a:pt x="71049" y="0"/>
                  </a:moveTo>
                  <a:lnTo>
                    <a:pt x="3561151" y="0"/>
                  </a:lnTo>
                  <a:cubicBezTo>
                    <a:pt x="3579994" y="0"/>
                    <a:pt x="3598066" y="7485"/>
                    <a:pt x="3611390" y="20810"/>
                  </a:cubicBezTo>
                  <a:cubicBezTo>
                    <a:pt x="3624714" y="34134"/>
                    <a:pt x="3632200" y="52206"/>
                    <a:pt x="3632200" y="71049"/>
                  </a:cubicBezTo>
                  <a:lnTo>
                    <a:pt x="3632200" y="1046551"/>
                  </a:lnTo>
                  <a:cubicBezTo>
                    <a:pt x="3632200" y="1065394"/>
                    <a:pt x="3624714" y="1083466"/>
                    <a:pt x="3611390" y="1096790"/>
                  </a:cubicBezTo>
                  <a:cubicBezTo>
                    <a:pt x="3598066" y="1110115"/>
                    <a:pt x="3579994" y="1117600"/>
                    <a:pt x="3561151" y="1117600"/>
                  </a:cubicBezTo>
                  <a:lnTo>
                    <a:pt x="71049" y="1117600"/>
                  </a:lnTo>
                  <a:cubicBezTo>
                    <a:pt x="52206" y="1117600"/>
                    <a:pt x="34134" y="1110115"/>
                    <a:pt x="20810" y="1096790"/>
                  </a:cubicBezTo>
                  <a:cubicBezTo>
                    <a:pt x="7485" y="1083466"/>
                    <a:pt x="0" y="1065394"/>
                    <a:pt x="0" y="1046551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solidFill>
              <a:srgbClr val="32B67A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632200" cy="1146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Operation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66800" y="9725025"/>
            <a:ext cx="5715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PT INTERVIEW  |  2026.09.30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573500" y="9725025"/>
            <a:ext cx="6667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607283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6197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7ED6E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EXECUTIVE SUMMARY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09650"/>
            <a:ext cx="14287500" cy="59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요약: HD현대의 기회는 전력·해양 플랫폼 통합</a:t>
            </a:r>
          </a:p>
        </p:txBody>
      </p:sp>
      <p:sp>
        <p:nvSpPr>
          <p:cNvPr name="AutoShape 4" id="4"/>
          <p:cNvSpPr/>
          <p:nvPr/>
        </p:nvSpPr>
        <p:spPr>
          <a:xfrm>
            <a:off x="1066800" y="1790700"/>
            <a:ext cx="16154400" cy="0"/>
          </a:xfrm>
          <a:prstGeom prst="line">
            <a:avLst/>
          </a:prstGeom>
          <a:ln cap="flat" w="19050">
            <a:solidFill>
              <a:srgbClr val="2441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66800" y="2781300"/>
            <a:ext cx="5410200" cy="525780"/>
            <a:chOff x="0" y="0"/>
            <a:chExt cx="7213600" cy="70104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55575"/>
              <a:ext cx="4953000" cy="40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삼성중공업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5308600" y="66675"/>
              <a:ext cx="1905000" cy="634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3450" b="true">
                  <a:solidFill>
                    <a:srgbClr val="32B67A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4.9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66800" y="3848100"/>
            <a:ext cx="5410200" cy="525780"/>
            <a:chOff x="0" y="0"/>
            <a:chExt cx="7213600" cy="70104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55575"/>
              <a:ext cx="4953000" cy="40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HD한국조선해양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308600" y="66675"/>
              <a:ext cx="1905000" cy="634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3450" b="true">
                  <a:solidFill>
                    <a:srgbClr val="7ED6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4.4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6800" y="4914900"/>
            <a:ext cx="5410200" cy="525780"/>
            <a:chOff x="0" y="0"/>
            <a:chExt cx="7213600" cy="70104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55575"/>
              <a:ext cx="4953000" cy="40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한화오션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5308600" y="66675"/>
              <a:ext cx="1905000" cy="634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3450" b="true">
                  <a:solidFill>
                    <a:srgbClr val="32B67A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4.3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6800" y="5981700"/>
            <a:ext cx="5410200" cy="525780"/>
            <a:chOff x="0" y="0"/>
            <a:chExt cx="7213600" cy="70104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55575"/>
              <a:ext cx="4953000" cy="40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중국 대표군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308600" y="66675"/>
              <a:ext cx="1905000" cy="634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3450" b="true">
                  <a:solidFill>
                    <a:srgbClr val="32B67A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3.8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429500" y="2647950"/>
            <a:ext cx="19050" cy="5905500"/>
            <a:chOff x="0" y="0"/>
            <a:chExt cx="25400" cy="787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4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24415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54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382000" y="269557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7ED6E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HD현대 생산관리 관점의 시사점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82000" y="3286125"/>
            <a:ext cx="8096250" cy="152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60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선체·발전·변전·냉각·</a:t>
            </a:r>
          </a:p>
          <a:p>
            <a:pPr algn="l">
              <a:lnSpc>
                <a:spcPts val="4032"/>
              </a:lnSpc>
            </a:pPr>
            <a:r>
              <a:rPr lang="en-US" sz="360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데이터센터 설비의</a:t>
            </a:r>
          </a:p>
          <a:p>
            <a:pPr algn="l">
              <a:lnSpc>
                <a:spcPts val="4032"/>
              </a:lnSpc>
            </a:pPr>
            <a:r>
              <a:rPr lang="en-US" sz="360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인터페이스 통합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82000" y="6543675"/>
            <a:ext cx="285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2B67A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경쟁의 기준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82000" y="6991350"/>
            <a:ext cx="78105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EPC 전환 · 장기 운전 · 통합 수익성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82000" y="8591550"/>
            <a:ext cx="7239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7ED6E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준비도에서 운영 증거로.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6800" y="9725025"/>
            <a:ext cx="5715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9DB2C3"/>
                </a:solidFill>
                <a:latin typeface="Noto Sans Kr"/>
                <a:ea typeface="Noto Sans Kr"/>
                <a:cs typeface="Noto Sans Kr"/>
                <a:sym typeface="Noto Sans Kr"/>
              </a:rPr>
              <a:t>PT INTERVIEW  |  2026.09.30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73500" y="9725025"/>
            <a:ext cx="6667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DB2C3"/>
                </a:solidFill>
                <a:latin typeface="Noto Sans Kr"/>
                <a:ea typeface="Noto Sans Kr"/>
                <a:cs typeface="Noto Sans Kr"/>
                <a:sym typeface="Noto Sans Kr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DAHWp74gZLs</dc:identifier>
  <dcterms:modified xsi:type="dcterms:W3CDTF">2011-08-01T06:04:30Z</dcterms:modified>
  <cp:revision>1</cp:revision>
  <dc:title>부유식 데이터센터 비교</dc:title>
</cp:coreProperties>
</file>